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6576000" cy="2743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36027360" cy="1828800"/>
          </a:xfrm>
          <a:prstGeom prst="roundRect">
            <a:avLst>
              <a:gd name="adj" fmla="val 2000"/>
            </a:avLst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2871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Inference Optimization for Hybrid Diffusion-Autoregressive</a:t>
            </a:r>
            <a:br/>
            <a:r>
              <a:t>Language Models: Profiling, Fusion, and Framework Overhead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2871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Srivatsa Kundurthy    |    Cornell University    |    CS 5220: Applied High-Performance and Parallel Computing    |   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443680" y="54864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STAR-LDM (COLM 2025)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Lovelace, Belardi, Zalouk, Polavaram,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Kundurthy, Weinberger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Apple M4 Max  |  128 GB  |  Metal GPU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240279"/>
            <a:ext cx="8869680" cy="6858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B3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2331720"/>
            <a:ext cx="8595359" cy="658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31B1B"/>
                </a:solidFill>
                <a:latin typeface="Calibri"/>
              </a:defRPr>
            </a:pPr>
            <a:r>
              <a:t>1. STAR-LDM: Hybrid Diffusion + Autoregressive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STAR-LDM combines 50-step latent diffusion planning with GPT-2 Large autoregressive decoding, achieving dramatically better text quality: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Model              Params    MAUVE ↑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GPT-2 Large      770M       85.2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GPT-2 XL           1.5B        86.6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2E7D32"/>
                </a:solidFill>
                <a:latin typeface="Calibri"/>
              </a:defRPr>
            </a:pPr>
            <a:r>
              <a:t>STAR-LDM         956M       94.6  (+8 points)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0"/>
              </a:spcAft>
              <a:defRPr sz="1700" b="1">
                <a:solidFill>
                  <a:srgbClr val="1A1A1A"/>
                </a:solidFill>
                <a:latin typeface="Calibri"/>
              </a:defRPr>
            </a:pPr>
            <a:r>
              <a:t>The Stop → Think → AutoRegress Pipeline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1. STOP: Encode prefix through GPT-2, cache KV projections.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2. THINK: 50-step diffusion loop. Each step: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1565C0"/>
                </a:solidFill>
                <a:latin typeface="Calibri"/>
              </a:defRPr>
            </a:pPr>
            <a:r>
              <a:t>   z_t (768d) → SPG (6 layers) → 8 soft prompts (1280d)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C62828"/>
                </a:solidFill>
                <a:latin typeface="Calibri"/>
              </a:defRPr>
            </a:pPr>
            <a:r>
              <a:t>   → GPT-2 Large (36 layers, 770M) → hidden states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2E7D32"/>
                </a:solidFill>
                <a:latin typeface="Calibri"/>
              </a:defRPr>
            </a:pPr>
            <a:r>
              <a:t>   → ScoreNet (6 layers) → v-prediction → DDPM update → z_{t-1}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3. AUTOREGRESS: Final soft prompts condition GPT-2 for token generation.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0"/>
              </a:spcAft>
              <a:defRPr sz="1700" b="1">
                <a:solidFill>
                  <a:srgbClr val="C62828"/>
                </a:solidFill>
                <a:latin typeface="Calibri"/>
              </a:defRPr>
            </a:pPr>
            <a:r>
              <a:t>The Problem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Each step invokes the full 770M-param GPT-2 backbone. At 50 steps, STAR-LDM is 2.3x slower than GPT-2 Large. The authors note their implementation is "not optimized for inference speed."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9281160"/>
            <a:ext cx="8869680" cy="559612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9372600"/>
            <a:ext cx="8595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31B1B"/>
                </a:solidFill>
                <a:latin typeface="Calibri"/>
              </a:defRPr>
            </a:pPr>
            <a:r>
              <a:t>Architecture: One Diffusion Step</a:t>
            </a:r>
          </a:p>
        </p:txBody>
      </p:sp>
      <p:pic>
        <p:nvPicPr>
          <p:cNvPr id="10" name="Picture 9" descr="fig0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9646920"/>
            <a:ext cx="8595359" cy="512507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326880" y="2240279"/>
            <a:ext cx="8869680" cy="5029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B3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64040" y="2331720"/>
            <a:ext cx="8595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31B1B"/>
                </a:solidFill>
                <a:latin typeface="Calibri"/>
              </a:defRPr>
            </a:pPr>
            <a:r>
              <a:t>2. Profiling: Where Does Time Go?</a:t>
            </a:r>
          </a:p>
        </p:txBody>
      </p:sp>
      <p:pic>
        <p:nvPicPr>
          <p:cNvPr id="13" name="Picture 12" descr="fig1_profiling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59" y="2697479"/>
            <a:ext cx="8503919" cy="7474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64040" y="6080760"/>
            <a:ext cx="85953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50 C4 prompts, M4 Max, 50 steps, unoptimized.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62828"/>
                </a:solidFill>
                <a:latin typeface="Calibri"/>
              </a:defRPr>
            </a:pPr>
            <a:r>
              <a:t>GPT-2 = 77.2% of total inference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7452360"/>
            <a:ext cx="886968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B3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7543800"/>
            <a:ext cx="8595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B31B1B"/>
                </a:solidFill>
                <a:latin typeface="Calibri"/>
              </a:defRPr>
            </a:pPr>
            <a:r>
              <a:t>The Real Bottleneck: Framework Overhead</a:t>
            </a:r>
          </a:p>
        </p:txBody>
      </p:sp>
      <p:pic>
        <p:nvPicPr>
          <p:cNvPr id="17" name="Picture 16" descr="fig4_dispatch_cou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7909560"/>
            <a:ext cx="8321040" cy="526021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464040" y="10744200"/>
            <a:ext cx="85953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6,185 ATen dispatches per call — only 432 (7%) compute.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The rest: mask creation, cache management, tensor reshaping. At ~3.4μs each, dispatch overhead alone = ~21ms/call.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2024360"/>
            <a:ext cx="8869680" cy="738377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B3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12115800"/>
            <a:ext cx="8595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B31B1B"/>
                </a:solidFill>
                <a:latin typeface="Calibri"/>
              </a:defRPr>
            </a:pPr>
            <a:r>
              <a:t>Roofline: Dispatch-Latency-Bound</a:t>
            </a:r>
          </a:p>
        </p:txBody>
      </p:sp>
      <p:pic>
        <p:nvPicPr>
          <p:cNvPr id="21" name="Picture 20" descr="fig3_roof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12435840"/>
            <a:ext cx="8595359" cy="63887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464040" y="18768060"/>
            <a:ext cx="85953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62828"/>
                </a:solidFill>
                <a:latin typeface="Calibri"/>
              </a:defRPr>
            </a:pPr>
            <a:r>
              <a:t>Micro-transformer ops: &lt;1% of roofline ceiling. Not compute-bound, not memory-bound — dispatch-latency-bound.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379439" y="2240279"/>
            <a:ext cx="8869680" cy="7315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B3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516599" y="2331720"/>
            <a:ext cx="8595359" cy="713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31B1B"/>
                </a:solidFill>
                <a:latin typeface="Calibri"/>
              </a:defRPr>
            </a:pPr>
            <a:r>
              <a:t>3. Optimizations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A. Streamlined GPT-2 Forward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Replace HuggingFace GPT2LMHeadModel.forward() with 40 lines of PyTorch performing only essential ops. Eliminates mask construction, cache management, tensor format conversions.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2E7D32"/>
                </a:solidFill>
                <a:latin typeface="Calibri"/>
              </a:defRPr>
            </a:pPr>
            <a:r>
              <a:t>6,185 → 432 dispatches  |  3.6x faster per-call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B. KV-Cache with Pre-Allocated Buffers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Compute prefix KV once, reuse across all 50 steps. Pre-allocate contiguous buffers — eliminates 1,800 tensor allocations per generation.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2E7D32"/>
                </a:solidFill>
                <a:latin typeface="Calibri"/>
              </a:defRPr>
            </a:pPr>
            <a:r>
              <a:t>Per-step cost: O(1) vs O(prefix_len)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C. Metal Compute Shaders (1,700 lines)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6 custom Apple Metal GPU kernels: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>
                <a:solidFill>
                  <a:srgbClr val="2E7D32"/>
                </a:solidFill>
                <a:latin typeface="Calibri"/>
              </a:defRPr>
            </a:pPr>
            <a:r>
              <a:t>✓ RMSNorm+FiLM:  3→1 dispatch, 1.69x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>
                <a:solidFill>
                  <a:srgbClr val="2E7D32"/>
                </a:solidFill>
                <a:latin typeface="Calibri"/>
              </a:defRPr>
            </a:pPr>
            <a:r>
              <a:t>✓ Tiny Attention:  register-resident 8×8, 2.39x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>
                <a:solidFill>
                  <a:srgbClr val="C62828"/>
                </a:solidFill>
                <a:latin typeface="Calibri"/>
              </a:defRPr>
            </a:pPr>
            <a:r>
              <a:t>✗ DDPM Step:  dispatch &gt; compute, 0.35x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>
                <a:solidFill>
                  <a:srgbClr val="C62828"/>
                </a:solidFill>
                <a:latin typeface="Calibri"/>
              </a:defRPr>
            </a:pPr>
            <a:r>
              <a:t>✗ Fused FFN:  can't beat Apple BLAS, 0.01x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>
                <a:solidFill>
                  <a:srgbClr val="C62828"/>
                </a:solidFill>
                <a:latin typeface="Calibri"/>
              </a:defRPr>
            </a:pPr>
            <a:r>
              <a:t>✗ Decode-N Attn:  wins only at KV&lt;40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C62828"/>
                </a:solidFill>
                <a:latin typeface="Calibri"/>
              </a:defRPr>
            </a:pPr>
            <a:r>
              <a:t>✗ Spec Verify:  dispatch overhead, 0.13x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2 of 6 kernels deliver speedups.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379439" y="9738359"/>
            <a:ext cx="8869680" cy="6858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B3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516599" y="9829799"/>
            <a:ext cx="8595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31B1B"/>
                </a:solidFill>
                <a:latin typeface="Calibri"/>
              </a:defRPr>
            </a:pPr>
            <a:r>
              <a:t>4. Results: Prefix Length Scaling</a:t>
            </a:r>
          </a:p>
        </p:txBody>
      </p:sp>
      <p:pic>
        <p:nvPicPr>
          <p:cNvPr id="27" name="Picture 26" descr="fig2_prefix_scal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16599" y="10195559"/>
            <a:ext cx="8595359" cy="349857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8516599" y="13213080"/>
            <a:ext cx="859535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Prefix    Baseline    Optimized    Speedup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  16        921 ms      748 ms        1.23x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  64      1,072 ms      765 ms        1.40x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128      1,321 ms      801 ms        1.65x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256      1,835 ms      853 ms        2.15x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2E7D32"/>
                </a:solidFill>
                <a:latin typeface="Calibri"/>
              </a:defRPr>
            </a:pPr>
            <a:r>
              <a:t>512      2,894 ms      982 ms        2.95x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100-Prompt Evaluation (20 steps, prefixes 5–200 tok):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Baseline: 1,590 ms (std 279)  →  Optimized: 1,379 ms (std 50)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E7D32"/>
                </a:solidFill>
                <a:latin typeface="Calibri"/>
              </a:defRPr>
            </a:pPr>
            <a:r>
              <a:t>1.15x speedup, 5.6x lower variance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1999" y="2240279"/>
            <a:ext cx="8869680" cy="8686800"/>
          </a:xfrm>
          <a:prstGeom prst="roundRect">
            <a:avLst>
              <a:gd name="adj" fmla="val 2000"/>
            </a:avLst>
          </a:prstGeom>
          <a:solidFill>
            <a:srgbClr val="E3F2FD"/>
          </a:solidFill>
          <a:ln w="254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569159" y="2331720"/>
            <a:ext cx="8595359" cy="841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65C0"/>
                </a:solidFill>
                <a:latin typeface="Calibri"/>
              </a:defRPr>
            </a:pPr>
            <a:r>
              <a:t>5. Future Work (for Final Report)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A. Cross-Platform CUDA Comparison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Run identical benchmarks on NVIDIA A100. Test whether framework overhead is MPS-specific or general. Does torch.compile with CUDA Graphs succeed where MPS failed?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B. Quality Validation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Generate 5,000 C4 continuations with both pipelines. Compute MAUVE and perplexity to verify optimizations preserve output quality. Critical: our fast forward drops causal masking on the 8 soft prompts.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C. Model Scheduling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Profile v-prediction error at each noise level. At early/late steps, GPT-2 may add minimal value — replace with cheap SPG+ScoreNet-only path (~3ms vs ~12ms/step). Training-free, potential 30–40% further speedup.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D. Consistency Distillation (Stretch)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Train student score network to map z_t → z_0 in 1–4 steps (LCM-style). STAR-LDM's 768-dim space is smoother than pixel space — few-step distillation should be effective.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2E7D32"/>
                </a:solidFill>
                <a:latin typeface="Calibri"/>
              </a:defRPr>
            </a:pPr>
            <a:r>
              <a:t>At 4 steps: ~550ms total (faster than GPT-2 Large)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1999" y="11109959"/>
            <a:ext cx="8869680" cy="5029200"/>
          </a:xfrm>
          <a:prstGeom prst="roundRect">
            <a:avLst>
              <a:gd name="adj" fmla="val 2000"/>
            </a:avLst>
          </a:prstGeom>
          <a:solidFill>
            <a:srgbClr val="FFF8E1"/>
          </a:solidFill>
          <a:ln w="254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569159" y="11201399"/>
            <a:ext cx="859535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5100"/>
                </a:solidFill>
                <a:latin typeface="Calibri"/>
              </a:defRPr>
            </a:pPr>
            <a:r>
              <a:t>Key Takeaway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The primary bottleneck in hybrid diffusion-AR inference is framework dispatch overhead, not GPU kernel performance.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HuggingFace issues 14x more operator dispatches than needed. A 40-line PyTorch rewrite gives a larger speedup (3.6x on 70% of pipeline) than six custom Metal GPU kernels combined.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Roofline analysis reveals a dispatch-latency-bound regime where micro-transformer ops achieve &lt;1% of hardware ceiling — a third regime beyond compute-bound and memory-bound.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Negative results: Picard parallel diffusion (convergence too slow), torch.compile on MPS (2–3x slower), fused FFN kernel (127x slower than BLAS).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0"/>
              </a:spcAft>
              <a:defRPr sz="1400" b="1">
                <a:solidFill>
                  <a:srgbClr val="E65100"/>
                </a:solidFill>
                <a:latin typeface="Calibri"/>
              </a:defRPr>
            </a:pPr>
            <a:r>
              <a:t>References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Lovelace et al., COLM 2025 • Dao et al., NeurIPS 2022 • Aminabadi et al., SC 2022 • Williams et al., CACM 2009 • Yuan et al., 2024 • Ansel et al., ASPLOS 2024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26609039"/>
            <a:ext cx="36027360" cy="548640"/>
          </a:xfrm>
          <a:prstGeom prst="roundRect">
            <a:avLst>
              <a:gd name="adj" fmla="val 2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6700480"/>
            <a:ext cx="1828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Code: 1,700 lines Metal/Obj-C++ (6 GPU kernels) + optimized PyTorch pipeline  |  Eval: 100 prompts, 4 prefix-length buckets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0" y="26700480"/>
            <a:ext cx="1773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CS 5220: Applied High-Performance and Parallel Computing  |  Prof. Giulia Guidi  |  Cornell University  | 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